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2" r:id="rId1"/>
  </p:sldMasterIdLst>
  <p:sldIdLst>
    <p:sldId id="257" r:id="rId2"/>
    <p:sldId id="267" r:id="rId3"/>
    <p:sldId id="259" r:id="rId4"/>
    <p:sldId id="260" r:id="rId5"/>
    <p:sldId id="261" r:id="rId6"/>
    <p:sldId id="262" r:id="rId7"/>
    <p:sldId id="263" r:id="rId8"/>
    <p:sldId id="264" r:id="rId9"/>
    <p:sldId id="265" r:id="rId10"/>
    <p:sldId id="269" r:id="rId11"/>
    <p:sldId id="268" r:id="rId12"/>
    <p:sldId id="266" r:id="rId13"/>
    <p:sldId id="270" r:id="rId14"/>
    <p:sldId id="27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fr-FR" smtClean="0"/>
              <a:t>Modifiez le style du titre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8C2882AB-372D-4FCE-B5BF-8E7CFD5FEA42}" type="datetimeFigureOut">
              <a:rPr lang="fr-FR" smtClean="0"/>
              <a:t>12/03/2026</a:t>
            </a:fld>
            <a:endParaRPr lang="fr-FR"/>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fr-FR"/>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0F6C98B5-A70C-4B37-AFF2-D7588995EF4E}" type="slidenum">
              <a:rPr lang="fr-FR" smtClean="0"/>
              <a:t>‹N°›</a:t>
            </a:fld>
            <a:endParaRPr lang="fr-FR"/>
          </a:p>
        </p:txBody>
      </p:sp>
    </p:spTree>
    <p:extLst>
      <p:ext uri="{BB962C8B-B14F-4D97-AF65-F5344CB8AC3E}">
        <p14:creationId xmlns:p14="http://schemas.microsoft.com/office/powerpoint/2010/main" val="1818003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8C2882AB-372D-4FCE-B5BF-8E7CFD5FEA42}" type="datetimeFigureOut">
              <a:rPr lang="fr-FR" smtClean="0"/>
              <a:t>12/03/2026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0F6C98B5-A70C-4B37-AFF2-D7588995EF4E}" type="slidenum">
              <a:rPr lang="fr-FR" smtClean="0"/>
              <a:t>‹N°›</a:t>
            </a:fld>
            <a:endParaRPr lang="fr-FR"/>
          </a:p>
        </p:txBody>
      </p:sp>
    </p:spTree>
    <p:extLst>
      <p:ext uri="{BB962C8B-B14F-4D97-AF65-F5344CB8AC3E}">
        <p14:creationId xmlns:p14="http://schemas.microsoft.com/office/powerpoint/2010/main" val="2788248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fr-FR" smtClean="0"/>
              <a:t>Modifiez le style du titre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8C2882AB-372D-4FCE-B5BF-8E7CFD5FEA42}" type="datetimeFigureOut">
              <a:rPr lang="fr-FR" smtClean="0"/>
              <a:t>12/03/2026</a:t>
            </a:fld>
            <a:endParaRPr lang="fr-FR"/>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fr-FR"/>
          </a:p>
        </p:txBody>
      </p:sp>
      <p:sp>
        <p:nvSpPr>
          <p:cNvPr id="6" name="Slide Number Placeholder 5"/>
          <p:cNvSpPr>
            <a:spLocks noGrp="1"/>
          </p:cNvSpPr>
          <p:nvPr>
            <p:ph type="sldNum" sz="quarter" idx="12"/>
          </p:nvPr>
        </p:nvSpPr>
        <p:spPr>
          <a:xfrm>
            <a:off x="8604504" y="5211060"/>
            <a:ext cx="2112264" cy="228600"/>
          </a:xfrm>
        </p:spPr>
        <p:txBody>
          <a:bodyPr/>
          <a:lstStyle/>
          <a:p>
            <a:fld id="{0F6C98B5-A70C-4B37-AFF2-D7588995EF4E}" type="slidenum">
              <a:rPr lang="fr-FR" smtClean="0"/>
              <a:t>‹N°›</a:t>
            </a:fld>
            <a:endParaRPr lang="fr-FR"/>
          </a:p>
        </p:txBody>
      </p:sp>
    </p:spTree>
    <p:extLst>
      <p:ext uri="{BB962C8B-B14F-4D97-AF65-F5344CB8AC3E}">
        <p14:creationId xmlns:p14="http://schemas.microsoft.com/office/powerpoint/2010/main" val="3226889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8C2882AB-372D-4FCE-B5BF-8E7CFD5FEA42}" type="datetimeFigureOut">
              <a:rPr lang="fr-FR" smtClean="0"/>
              <a:t>12/03/2026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0F6C98B5-A70C-4B37-AFF2-D7588995EF4E}" type="slidenum">
              <a:rPr lang="fr-FR" smtClean="0"/>
              <a:t>‹N°›</a:t>
            </a:fld>
            <a:endParaRPr lang="fr-FR"/>
          </a:p>
        </p:txBody>
      </p:sp>
    </p:spTree>
    <p:extLst>
      <p:ext uri="{BB962C8B-B14F-4D97-AF65-F5344CB8AC3E}">
        <p14:creationId xmlns:p14="http://schemas.microsoft.com/office/powerpoint/2010/main" val="2958587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8C2882AB-372D-4FCE-B5BF-8E7CFD5FEA42}" type="datetimeFigureOut">
              <a:rPr lang="fr-FR" smtClean="0"/>
              <a:t>12/03/2026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0F6C98B5-A70C-4B37-AFF2-D7588995EF4E}" type="slidenum">
              <a:rPr lang="fr-FR" smtClean="0"/>
              <a:t>‹N°›</a:t>
            </a:fld>
            <a:endParaRPr lang="fr-FR"/>
          </a:p>
        </p:txBody>
      </p:sp>
    </p:spTree>
    <p:extLst>
      <p:ext uri="{BB962C8B-B14F-4D97-AF65-F5344CB8AC3E}">
        <p14:creationId xmlns:p14="http://schemas.microsoft.com/office/powerpoint/2010/main" val="2562953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8C2882AB-372D-4FCE-B5BF-8E7CFD5FEA42}" type="datetimeFigureOut">
              <a:rPr lang="fr-FR" smtClean="0"/>
              <a:t>12/03/2026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0F6C98B5-A70C-4B37-AFF2-D7588995EF4E}" type="slidenum">
              <a:rPr lang="fr-FR" smtClean="0"/>
              <a:t>‹N°›</a:t>
            </a:fld>
            <a:endParaRPr lang="fr-FR"/>
          </a:p>
        </p:txBody>
      </p:sp>
    </p:spTree>
    <p:extLst>
      <p:ext uri="{BB962C8B-B14F-4D97-AF65-F5344CB8AC3E}">
        <p14:creationId xmlns:p14="http://schemas.microsoft.com/office/powerpoint/2010/main" val="24076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2882AB-372D-4FCE-B5BF-8E7CFD5FEA42}" type="datetimeFigureOut">
              <a:rPr lang="fr-FR" smtClean="0"/>
              <a:t>12/03/2026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0F6C98B5-A70C-4B37-AFF2-D7588995EF4E}" type="slidenum">
              <a:rPr lang="fr-FR" smtClean="0"/>
              <a:t>‹N°›</a:t>
            </a:fld>
            <a:endParaRPr lang="fr-FR"/>
          </a:p>
        </p:txBody>
      </p:sp>
    </p:spTree>
    <p:extLst>
      <p:ext uri="{BB962C8B-B14F-4D97-AF65-F5344CB8AC3E}">
        <p14:creationId xmlns:p14="http://schemas.microsoft.com/office/powerpoint/2010/main" val="4282035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fr-FR" smtClean="0"/>
              <a:t>Modifiez le style du titre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8" name="Date Placeholder 7"/>
          <p:cNvSpPr>
            <a:spLocks noGrp="1"/>
          </p:cNvSpPr>
          <p:nvPr>
            <p:ph type="dt" sz="half" idx="10"/>
          </p:nvPr>
        </p:nvSpPr>
        <p:spPr/>
        <p:txBody>
          <a:bodyPr/>
          <a:lstStyle/>
          <a:p>
            <a:fld id="{8C2882AB-372D-4FCE-B5BF-8E7CFD5FEA42}" type="datetimeFigureOut">
              <a:rPr lang="fr-FR" smtClean="0"/>
              <a:t>12/03/2026</a:t>
            </a:fld>
            <a:endParaRPr lang="fr-FR"/>
          </a:p>
        </p:txBody>
      </p:sp>
      <p:sp>
        <p:nvSpPr>
          <p:cNvPr id="9" name="Footer Placeholder 8"/>
          <p:cNvSpPr>
            <a:spLocks noGrp="1"/>
          </p:cNvSpPr>
          <p:nvPr>
            <p:ph type="ftr" sz="quarter" idx="11"/>
          </p:nvPr>
        </p:nvSpPr>
        <p:spPr/>
        <p:txBody>
          <a:bodyPr/>
          <a:lstStyle>
            <a:lvl1pPr algn="r">
              <a:defRPr/>
            </a:lvl1pPr>
          </a:lstStyle>
          <a:p>
            <a:endParaRPr lang="fr-FR"/>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0F6C98B5-A70C-4B37-AFF2-D7588995EF4E}" type="slidenum">
              <a:rPr lang="fr-FR" smtClean="0"/>
              <a:t>‹N°›</a:t>
            </a:fld>
            <a:endParaRPr lang="fr-FR"/>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95797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8C2882AB-372D-4FCE-B5BF-8E7CFD5FEA42}" type="datetimeFigureOut">
              <a:rPr lang="fr-FR" smtClean="0"/>
              <a:t>12/03/2026</a:t>
            </a:fld>
            <a:endParaRPr lang="fr-FR"/>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fr-FR"/>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0F6C98B5-A70C-4B37-AFF2-D7588995EF4E}" type="slidenum">
              <a:rPr lang="fr-FR" smtClean="0"/>
              <a:t>‹N°›</a:t>
            </a:fld>
            <a:endParaRPr lang="fr-FR"/>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6996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8C2882AB-372D-4FCE-B5BF-8E7CFD5FEA42}" type="datetimeFigureOut">
              <a:rPr lang="fr-FR" smtClean="0"/>
              <a:t>12/03/2026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F6C98B5-A70C-4B37-AFF2-D7588995EF4E}" type="slidenum">
              <a:rPr lang="fr-FR" smtClean="0"/>
              <a:t>‹N°›</a:t>
            </a:fld>
            <a:endParaRPr lang="fr-FR"/>
          </a:p>
        </p:txBody>
      </p:sp>
    </p:spTree>
    <p:extLst>
      <p:ext uri="{BB962C8B-B14F-4D97-AF65-F5344CB8AC3E}">
        <p14:creationId xmlns:p14="http://schemas.microsoft.com/office/powerpoint/2010/main" val="2379526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8C2882AB-372D-4FCE-B5BF-8E7CFD5FEA42}" type="datetimeFigureOut">
              <a:rPr lang="fr-FR" smtClean="0"/>
              <a:t>12/03/2026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F6C98B5-A70C-4B37-AFF2-D7588995EF4E}" type="slidenum">
              <a:rPr lang="fr-FR" smtClean="0"/>
              <a:t>‹N°›</a:t>
            </a:fld>
            <a:endParaRPr lang="fr-FR"/>
          </a:p>
        </p:txBody>
      </p:sp>
    </p:spTree>
    <p:extLst>
      <p:ext uri="{BB962C8B-B14F-4D97-AF65-F5344CB8AC3E}">
        <p14:creationId xmlns:p14="http://schemas.microsoft.com/office/powerpoint/2010/main" val="424039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fr-FR" smtClean="0"/>
              <a:t>Modifiez le style du titre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8C2882AB-372D-4FCE-B5BF-8E7CFD5FEA42}" type="datetimeFigureOut">
              <a:rPr lang="fr-FR" smtClean="0"/>
              <a:t>12/03/2026</a:t>
            </a:fld>
            <a:endParaRPr lang="fr-FR"/>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fr-FR"/>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0F6C98B5-A70C-4B37-AFF2-D7588995EF4E}" type="slidenum">
              <a:rPr lang="fr-FR" smtClean="0"/>
              <a:t>‹N°›</a:t>
            </a:fld>
            <a:endParaRPr lang="fr-FR"/>
          </a:p>
        </p:txBody>
      </p:sp>
    </p:spTree>
    <p:extLst>
      <p:ext uri="{BB962C8B-B14F-4D97-AF65-F5344CB8AC3E}">
        <p14:creationId xmlns:p14="http://schemas.microsoft.com/office/powerpoint/2010/main" val="3590307715"/>
      </p:ext>
    </p:extLst>
  </p:cSld>
  <p:clrMap bg1="dk1" tx1="lt1" bg2="dk2" tx2="lt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Scolarité - UFR Santé UIDT"/>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13439" y="615271"/>
            <a:ext cx="1503334" cy="1402715"/>
          </a:xfrm>
          <a:prstGeom prst="rect">
            <a:avLst/>
          </a:prstGeom>
          <a:noFill/>
          <a:ln>
            <a:noFill/>
          </a:ln>
        </p:spPr>
      </p:pic>
      <p:sp>
        <p:nvSpPr>
          <p:cNvPr id="3" name="ZoneTexte 2"/>
          <p:cNvSpPr txBox="1"/>
          <p:nvPr/>
        </p:nvSpPr>
        <p:spPr>
          <a:xfrm>
            <a:off x="1912883" y="3903443"/>
            <a:ext cx="9469821" cy="584775"/>
          </a:xfrm>
          <a:prstGeom prst="rect">
            <a:avLst/>
          </a:prstGeom>
          <a:noFill/>
        </p:spPr>
        <p:txBody>
          <a:bodyPr wrap="square" rtlCol="0">
            <a:spAutoFit/>
          </a:bodyPr>
          <a:lstStyle/>
          <a:p>
            <a:r>
              <a:rPr lang="en-CA" sz="3200" dirty="0" smtClean="0">
                <a:latin typeface="Arial Black" panose="020B0A04020102020204" pitchFamily="34" charset="0"/>
              </a:rPr>
              <a:t>The</a:t>
            </a:r>
            <a:r>
              <a:rPr lang="fr-FR" sz="3200" dirty="0" smtClean="0">
                <a:latin typeface="Arial Black" panose="020B0A04020102020204" pitchFamily="34" charset="0"/>
              </a:rPr>
              <a:t>me: Surveying Methods  and </a:t>
            </a:r>
            <a:r>
              <a:rPr lang="fr-FR" sz="3200" dirty="0">
                <a:latin typeface="Arial Black" panose="020B0A04020102020204" pitchFamily="34" charset="0"/>
              </a:rPr>
              <a:t>T</a:t>
            </a:r>
            <a:r>
              <a:rPr lang="fr-FR" sz="3200" dirty="0" smtClean="0">
                <a:latin typeface="Arial Black" panose="020B0A04020102020204" pitchFamily="34" charset="0"/>
              </a:rPr>
              <a:t>ools</a:t>
            </a:r>
            <a:endParaRPr lang="fr-FR" sz="3200" dirty="0">
              <a:latin typeface="Arial Black" panose="020B0A04020102020204" pitchFamily="34" charset="0"/>
            </a:endParaRPr>
          </a:p>
        </p:txBody>
      </p:sp>
      <p:sp>
        <p:nvSpPr>
          <p:cNvPr id="4" name="ZoneTexte 3"/>
          <p:cNvSpPr txBox="1"/>
          <p:nvPr/>
        </p:nvSpPr>
        <p:spPr>
          <a:xfrm>
            <a:off x="793353" y="5000207"/>
            <a:ext cx="5255527" cy="1384995"/>
          </a:xfrm>
          <a:prstGeom prst="rect">
            <a:avLst/>
          </a:prstGeom>
          <a:noFill/>
        </p:spPr>
        <p:txBody>
          <a:bodyPr wrap="square" rtlCol="0">
            <a:spAutoFit/>
          </a:bodyPr>
          <a:lstStyle/>
          <a:p>
            <a:r>
              <a:rPr lang="fr-FR" sz="2400" b="1" dirty="0" smtClean="0">
                <a:latin typeface="Arial Black" panose="020B0A04020102020204" pitchFamily="34" charset="0"/>
              </a:rPr>
              <a:t>Exhibitors:</a:t>
            </a:r>
          </a:p>
          <a:p>
            <a:r>
              <a:rPr lang="fr-FR" sz="2000" dirty="0" smtClean="0">
                <a:latin typeface="Arial Black" panose="020B0A04020102020204" pitchFamily="34" charset="0"/>
              </a:rPr>
              <a:t>Mouhamadou Fadel Fall</a:t>
            </a:r>
          </a:p>
          <a:p>
            <a:r>
              <a:rPr lang="fr-FR" sz="2000" dirty="0" smtClean="0">
                <a:latin typeface="Arial Black" panose="020B0A04020102020204" pitchFamily="34" charset="0"/>
              </a:rPr>
              <a:t>Marie Simone Djiboune</a:t>
            </a:r>
          </a:p>
          <a:p>
            <a:r>
              <a:rPr lang="fr-FR" sz="2000" dirty="0" smtClean="0">
                <a:latin typeface="Arial Black" panose="020B0A04020102020204" pitchFamily="34" charset="0"/>
              </a:rPr>
              <a:t>Aicha Ndiaye</a:t>
            </a:r>
            <a:endParaRPr lang="fr-FR" sz="2000" dirty="0">
              <a:latin typeface="Arial Black" panose="020B0A04020102020204" pitchFamily="34" charset="0"/>
            </a:endParaRPr>
          </a:p>
        </p:txBody>
      </p:sp>
      <p:pic>
        <p:nvPicPr>
          <p:cNvPr id="5" name="Image 4">
            <a:extLst>
              <a:ext uri="{FF2B5EF4-FFF2-40B4-BE49-F238E27FC236}">
                <a16:creationId xmlns:a16="http://schemas.microsoft.com/office/drawing/2014/main" id="{0885BB87-8AED-5BFD-1485-58820877DA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74660" y="465211"/>
            <a:ext cx="1439917" cy="1327026"/>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p:cNvSpPr txBox="1"/>
          <p:nvPr/>
        </p:nvSpPr>
        <p:spPr>
          <a:xfrm>
            <a:off x="9165022" y="1679545"/>
            <a:ext cx="2879834" cy="307777"/>
          </a:xfrm>
          <a:prstGeom prst="rect">
            <a:avLst/>
          </a:prstGeom>
          <a:noFill/>
        </p:spPr>
        <p:txBody>
          <a:bodyPr wrap="square" rtlCol="0">
            <a:spAutoFit/>
          </a:bodyPr>
          <a:lstStyle/>
          <a:p>
            <a:r>
              <a:rPr lang="fr-FR" sz="1400" b="1" dirty="0"/>
              <a:t>Republic of Senegal</a:t>
            </a:r>
          </a:p>
        </p:txBody>
      </p:sp>
      <p:sp>
        <p:nvSpPr>
          <p:cNvPr id="7" name="ZoneTexte 6"/>
          <p:cNvSpPr txBox="1"/>
          <p:nvPr/>
        </p:nvSpPr>
        <p:spPr>
          <a:xfrm>
            <a:off x="8936596" y="1926128"/>
            <a:ext cx="3255404" cy="523220"/>
          </a:xfrm>
          <a:prstGeom prst="rect">
            <a:avLst/>
          </a:prstGeom>
          <a:noFill/>
        </p:spPr>
        <p:txBody>
          <a:bodyPr wrap="square" rtlCol="0">
            <a:spAutoFit/>
          </a:bodyPr>
          <a:lstStyle/>
          <a:p>
            <a:r>
              <a:rPr lang="en-US" sz="1400" b="1" dirty="0">
                <a:latin typeface="Arial Black" panose="020B0A04020102020204" pitchFamily="34" charset="0"/>
              </a:rPr>
              <a:t>Minister of Higher Education, Research and Innovation</a:t>
            </a:r>
            <a:endParaRPr lang="fr-FR" sz="1400" b="1" dirty="0">
              <a:latin typeface="Arial Black" panose="020B0A04020102020204" pitchFamily="34" charset="0"/>
            </a:endParaRPr>
          </a:p>
        </p:txBody>
      </p:sp>
      <p:sp>
        <p:nvSpPr>
          <p:cNvPr id="8" name="ZoneTexte 7"/>
          <p:cNvSpPr txBox="1"/>
          <p:nvPr/>
        </p:nvSpPr>
        <p:spPr>
          <a:xfrm>
            <a:off x="793353" y="2103362"/>
            <a:ext cx="3311113" cy="523220"/>
          </a:xfrm>
          <a:prstGeom prst="rect">
            <a:avLst/>
          </a:prstGeom>
          <a:noFill/>
        </p:spPr>
        <p:txBody>
          <a:bodyPr wrap="square" rtlCol="0">
            <a:spAutoFit/>
          </a:bodyPr>
          <a:lstStyle/>
          <a:p>
            <a:r>
              <a:rPr lang="en-US" sz="1400" b="1" dirty="0">
                <a:latin typeface="Arial Black" panose="020B0A04020102020204" pitchFamily="34" charset="0"/>
              </a:rPr>
              <a:t>Unit of Training and Research in Engineering Sciences</a:t>
            </a:r>
            <a:endParaRPr lang="fr-FR" sz="1400" b="1" dirty="0">
              <a:latin typeface="Arial Black" panose="020B0A04020102020204" pitchFamily="34" charset="0"/>
            </a:endParaRPr>
          </a:p>
        </p:txBody>
      </p:sp>
      <p:sp>
        <p:nvSpPr>
          <p:cNvPr id="9" name="Rectangle 8"/>
          <p:cNvSpPr/>
          <p:nvPr/>
        </p:nvSpPr>
        <p:spPr>
          <a:xfrm>
            <a:off x="6202912" y="5082529"/>
            <a:ext cx="5700791" cy="707886"/>
          </a:xfrm>
          <a:prstGeom prst="rect">
            <a:avLst/>
          </a:prstGeom>
        </p:spPr>
        <p:txBody>
          <a:bodyPr wrap="none">
            <a:spAutoFit/>
          </a:bodyPr>
          <a:lstStyle/>
          <a:p>
            <a:r>
              <a:rPr lang="en-US" sz="2000" b="1" dirty="0">
                <a:latin typeface="Arial Black" panose="020B0A04020102020204" pitchFamily="34" charset="0"/>
                <a:cs typeface="Arial" panose="020B0604020202020204" pitchFamily="34" charset="0"/>
              </a:rPr>
              <a:t>Under the supervision of the </a:t>
            </a:r>
            <a:r>
              <a:rPr lang="en-US" sz="2000" b="1" dirty="0" smtClean="0">
                <a:latin typeface="Arial Black" panose="020B0A04020102020204" pitchFamily="34" charset="0"/>
                <a:cs typeface="Arial" panose="020B0604020202020204" pitchFamily="34" charset="0"/>
              </a:rPr>
              <a:t>professor:</a:t>
            </a:r>
          </a:p>
          <a:p>
            <a:r>
              <a:rPr lang="fr-FR" dirty="0" smtClean="0">
                <a:latin typeface="Arial Black" panose="020B0A04020102020204" pitchFamily="34" charset="0"/>
              </a:rPr>
              <a:t>		</a:t>
            </a:r>
            <a:r>
              <a:rPr lang="fr-FR" sz="2000" dirty="0" smtClean="0">
                <a:latin typeface="Arial Black" panose="020B0A04020102020204" pitchFamily="34" charset="0"/>
              </a:rPr>
              <a:t>MRS BARRY</a:t>
            </a:r>
            <a:endParaRPr lang="fr-FR" sz="2000" b="1" dirty="0">
              <a:latin typeface="Arial Black" panose="020B0A04020102020204" pitchFamily="34" charset="0"/>
              <a:cs typeface="Arial" panose="020B0604020202020204" pitchFamily="34" charset="0"/>
            </a:endParaRPr>
          </a:p>
        </p:txBody>
      </p:sp>
      <p:sp>
        <p:nvSpPr>
          <p:cNvPr id="10" name="Rectangle 9"/>
          <p:cNvSpPr/>
          <p:nvPr/>
        </p:nvSpPr>
        <p:spPr>
          <a:xfrm>
            <a:off x="4366768" y="2601246"/>
            <a:ext cx="4387676" cy="1015663"/>
          </a:xfrm>
          <a:prstGeom prst="rect">
            <a:avLst/>
          </a:prstGeom>
        </p:spPr>
        <p:txBody>
          <a:bodyPr wrap="none">
            <a:spAutoFit/>
          </a:bodyPr>
          <a:lstStyle/>
          <a:p>
            <a:pPr>
              <a:lnSpc>
                <a:spcPct val="150000"/>
              </a:lnSpc>
            </a:pPr>
            <a:r>
              <a:rPr lang="fr-FR" sz="2000" dirty="0" smtClean="0">
                <a:latin typeface="Arial Black" panose="020B0A04020102020204" pitchFamily="34" charset="0"/>
              </a:rPr>
              <a:t>Department: Civil Engineering</a:t>
            </a:r>
          </a:p>
          <a:p>
            <a:pPr>
              <a:lnSpc>
                <a:spcPct val="150000"/>
              </a:lnSpc>
            </a:pPr>
            <a:r>
              <a:rPr lang="fr-FR" sz="2000" dirty="0" smtClean="0">
                <a:latin typeface="Arial Black" panose="020B0A04020102020204" pitchFamily="34" charset="0"/>
              </a:rPr>
              <a:t>SECTOR: </a:t>
            </a:r>
            <a:r>
              <a:rPr lang="fr-FR" sz="2000" b="1" dirty="0">
                <a:latin typeface="Arial Black" panose="020B0A04020102020204" pitchFamily="34" charset="0"/>
              </a:rPr>
              <a:t>Geomatics</a:t>
            </a:r>
          </a:p>
        </p:txBody>
      </p:sp>
      <p:pic>
        <p:nvPicPr>
          <p:cNvPr id="11" name="Image 10">
            <a:extLst>
              <a:ext uri="{FF2B5EF4-FFF2-40B4-BE49-F238E27FC236}">
                <a16:creationId xmlns:a16="http://schemas.microsoft.com/office/drawing/2014/main" id="{0885BB87-8AED-5BFD-1485-58820877DA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74660" y="472033"/>
            <a:ext cx="1439917" cy="1327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8350274"/>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749300" y="3251200"/>
            <a:ext cx="5867400" cy="369332"/>
          </a:xfrm>
          <a:prstGeom prst="rect">
            <a:avLst/>
          </a:prstGeom>
          <a:noFill/>
        </p:spPr>
        <p:txBody>
          <a:bodyPr wrap="square" rtlCol="0">
            <a:spAutoFit/>
          </a:bodyPr>
          <a:lstStyle/>
          <a:p>
            <a:pPr marL="400050" indent="-400050">
              <a:buFont typeface="+mj-lt"/>
              <a:buAutoNum type="romanUcPeriod"/>
            </a:pPr>
            <a:endParaRPr lang="fr-FR" dirty="0"/>
          </a:p>
        </p:txBody>
      </p:sp>
      <p:sp>
        <p:nvSpPr>
          <p:cNvPr id="4" name="ZoneTexte 3"/>
          <p:cNvSpPr txBox="1"/>
          <p:nvPr/>
        </p:nvSpPr>
        <p:spPr>
          <a:xfrm>
            <a:off x="749300" y="0"/>
            <a:ext cx="9145327" cy="8217634"/>
          </a:xfrm>
          <a:prstGeom prst="rect">
            <a:avLst/>
          </a:prstGeom>
          <a:noFill/>
        </p:spPr>
        <p:txBody>
          <a:bodyPr wrap="square" rtlCol="0">
            <a:spAutoFit/>
          </a:bodyPr>
          <a:lstStyle/>
          <a:p>
            <a:pPr>
              <a:lnSpc>
                <a:spcPct val="150000"/>
              </a:lnSpc>
            </a:pPr>
            <a:r>
              <a:rPr lang="en-US" sz="3200" b="1" dirty="0" smtClean="0">
                <a:effectLst>
                  <a:outerShdw blurRad="38100" dist="38100" dir="2700000" algn="tl">
                    <a:srgbClr val="000000">
                      <a:alpha val="43137"/>
                    </a:srgbClr>
                  </a:outerShdw>
                </a:effectLst>
                <a:latin typeface="Arial Black" panose="020B0A04020102020204" pitchFamily="34" charset="0"/>
              </a:rPr>
              <a:t>					Plan</a:t>
            </a:r>
          </a:p>
          <a:p>
            <a:pPr>
              <a:lnSpc>
                <a:spcPct val="150000"/>
              </a:lnSpc>
            </a:pPr>
            <a:r>
              <a:rPr lang="en-US" sz="3200" b="1" dirty="0" smtClean="0">
                <a:effectLst>
                  <a:outerShdw blurRad="38100" dist="38100" dir="2700000" algn="tl">
                    <a:srgbClr val="000000">
                      <a:alpha val="43137"/>
                    </a:srgbClr>
                  </a:outerShdw>
                </a:effectLst>
                <a:latin typeface="Arial Black" panose="020B0A04020102020204" pitchFamily="34" charset="0"/>
              </a:rPr>
              <a:t>			Introduction</a:t>
            </a:r>
          </a:p>
          <a:p>
            <a:pPr marL="400050" indent="-400050">
              <a:lnSpc>
                <a:spcPct val="150000"/>
              </a:lnSpc>
              <a:buFont typeface="+mj-lt"/>
              <a:buAutoNum type="romanUcPeriod"/>
            </a:pPr>
            <a:r>
              <a:rPr lang="en-US" sz="3200" b="1" dirty="0" smtClean="0">
                <a:effectLst>
                  <a:outerShdw blurRad="38100" dist="38100" dir="2700000" algn="tl">
                    <a:srgbClr val="000000">
                      <a:alpha val="43137"/>
                    </a:srgbClr>
                  </a:outerShdw>
                </a:effectLst>
                <a:latin typeface="Arial Black" panose="020B0A04020102020204" pitchFamily="34" charset="0"/>
              </a:rPr>
              <a:t>Surveying methods</a:t>
            </a:r>
          </a:p>
          <a:p>
            <a:pPr marL="800100" lvl="1" indent="-342900">
              <a:lnSpc>
                <a:spcPct val="150000"/>
              </a:lnSpc>
              <a:buFont typeface="+mj-lt"/>
              <a:buAutoNum type="alphaLcPeriod"/>
            </a:pPr>
            <a:r>
              <a:rPr lang="en-US" sz="3200" b="1" dirty="0" smtClean="0">
                <a:effectLst>
                  <a:outerShdw blurRad="38100" dist="38100" dir="2700000" algn="tl">
                    <a:srgbClr val="000000">
                      <a:alpha val="43137"/>
                    </a:srgbClr>
                  </a:outerShdw>
                </a:effectLst>
                <a:latin typeface="Arial Black" panose="020B0A04020102020204" pitchFamily="34" charset="0"/>
              </a:rPr>
              <a:t>Traditional surveying </a:t>
            </a:r>
            <a:endParaRPr lang="fr-FR" sz="3200" b="1" dirty="0" smtClean="0">
              <a:effectLst>
                <a:outerShdw blurRad="38100" dist="38100" dir="2700000" algn="tl">
                  <a:srgbClr val="000000">
                    <a:alpha val="43137"/>
                  </a:srgbClr>
                </a:outerShdw>
              </a:effectLst>
              <a:latin typeface="Arial Black" panose="020B0A04020102020204" pitchFamily="34" charset="0"/>
            </a:endParaRPr>
          </a:p>
          <a:p>
            <a:pPr marL="800100" lvl="1" indent="-342900">
              <a:lnSpc>
                <a:spcPct val="150000"/>
              </a:lnSpc>
              <a:buFont typeface="+mj-lt"/>
              <a:buAutoNum type="alphaLcPeriod"/>
            </a:pPr>
            <a:r>
              <a:rPr lang="en-US" sz="3200" b="1" dirty="0" smtClean="0">
                <a:effectLst>
                  <a:outerShdw blurRad="38100" dist="38100" dir="2700000" algn="tl">
                    <a:srgbClr val="000000">
                      <a:alpha val="43137"/>
                    </a:srgbClr>
                  </a:outerShdw>
                </a:effectLst>
                <a:latin typeface="Arial Black" panose="020B0A04020102020204" pitchFamily="34" charset="0"/>
              </a:rPr>
              <a:t>Modern surveying</a:t>
            </a:r>
            <a:endParaRPr lang="fr-FR" sz="3200" b="1" dirty="0" smtClean="0">
              <a:effectLst>
                <a:outerShdw blurRad="38100" dist="38100" dir="2700000" algn="tl">
                  <a:srgbClr val="000000">
                    <a:alpha val="43137"/>
                  </a:srgbClr>
                </a:outerShdw>
              </a:effectLst>
              <a:latin typeface="Arial Black" panose="020B0A04020102020204" pitchFamily="34" charset="0"/>
            </a:endParaRPr>
          </a:p>
          <a:p>
            <a:pPr marL="400050" indent="-400050">
              <a:lnSpc>
                <a:spcPct val="150000"/>
              </a:lnSpc>
              <a:buFont typeface="+mj-lt"/>
              <a:buAutoNum type="romanUcPeriod" startAt="2"/>
            </a:pPr>
            <a:r>
              <a:rPr lang="en-US" sz="3200" b="1" dirty="0" smtClean="0">
                <a:effectLst>
                  <a:outerShdw blurRad="38100" dist="38100" dir="2700000" algn="tl">
                    <a:srgbClr val="000000">
                      <a:alpha val="43137"/>
                    </a:srgbClr>
                  </a:outerShdw>
                </a:effectLst>
                <a:latin typeface="Arial Black" panose="020B0A04020102020204" pitchFamily="34" charset="0"/>
              </a:rPr>
              <a:t>Surveying tools</a:t>
            </a:r>
          </a:p>
          <a:p>
            <a:pPr marL="400050" indent="-400050">
              <a:lnSpc>
                <a:spcPct val="150000"/>
              </a:lnSpc>
              <a:buFont typeface="+mj-lt"/>
              <a:buAutoNum type="romanUcPeriod" startAt="2"/>
            </a:pPr>
            <a:r>
              <a:rPr lang="en-US" sz="3200" b="1" dirty="0" smtClean="0">
                <a:effectLst>
                  <a:outerShdw blurRad="38100" dist="38100" dir="2700000" algn="tl">
                    <a:srgbClr val="000000">
                      <a:alpha val="43137"/>
                    </a:srgbClr>
                  </a:outerShdw>
                </a:effectLst>
                <a:latin typeface="Arial Black" panose="020B0A04020102020204" pitchFamily="34" charset="0"/>
              </a:rPr>
              <a:t>Surveying application</a:t>
            </a:r>
            <a:endParaRPr lang="fr-FR" sz="3200" b="1" dirty="0" smtClean="0">
              <a:effectLst>
                <a:outerShdw blurRad="38100" dist="38100" dir="2700000" algn="tl">
                  <a:srgbClr val="000000">
                    <a:alpha val="43137"/>
                  </a:srgbClr>
                </a:outerShdw>
              </a:effectLst>
              <a:latin typeface="Arial Black" panose="020B0A04020102020204" pitchFamily="34" charset="0"/>
            </a:endParaRPr>
          </a:p>
          <a:p>
            <a:pPr marL="400050" indent="-400050">
              <a:lnSpc>
                <a:spcPct val="150000"/>
              </a:lnSpc>
              <a:buFont typeface="+mj-lt"/>
              <a:buAutoNum type="romanUcPeriod" startAt="2"/>
            </a:pPr>
            <a:r>
              <a:rPr lang="en-US" sz="3200" b="1" dirty="0" smtClean="0">
                <a:effectLst>
                  <a:outerShdw blurRad="38100" dist="38100" dir="2700000" algn="tl">
                    <a:srgbClr val="000000">
                      <a:alpha val="43137"/>
                    </a:srgbClr>
                  </a:outerShdw>
                </a:effectLst>
                <a:latin typeface="Arial Black" panose="020B0A04020102020204" pitchFamily="34" charset="0"/>
              </a:rPr>
              <a:t>Challenges and limits of surveying</a:t>
            </a:r>
          </a:p>
          <a:p>
            <a:pPr>
              <a:lnSpc>
                <a:spcPct val="150000"/>
              </a:lnSpc>
            </a:pPr>
            <a:r>
              <a:rPr lang="en-US" sz="3200" b="1" dirty="0" smtClean="0">
                <a:effectLst>
                  <a:outerShdw blurRad="38100" dist="38100" dir="2700000" algn="tl">
                    <a:srgbClr val="000000">
                      <a:alpha val="43137"/>
                    </a:srgbClr>
                  </a:outerShdw>
                </a:effectLst>
                <a:latin typeface="Arial Black" panose="020B0A04020102020204" pitchFamily="34" charset="0"/>
              </a:rPr>
              <a:t>			Conclusion</a:t>
            </a:r>
            <a:endParaRPr lang="fr-FR" sz="3200" b="1" dirty="0" smtClean="0">
              <a:effectLst>
                <a:outerShdw blurRad="38100" dist="38100" dir="2700000" algn="tl">
                  <a:srgbClr val="000000">
                    <a:alpha val="43137"/>
                  </a:srgbClr>
                </a:outerShdw>
              </a:effectLst>
              <a:latin typeface="Arial Black" panose="020B0A04020102020204" pitchFamily="34" charset="0"/>
            </a:endParaRPr>
          </a:p>
          <a:p>
            <a:pPr>
              <a:lnSpc>
                <a:spcPct val="150000"/>
              </a:lnSpc>
            </a:pPr>
            <a:endParaRPr lang="fr-FR" sz="3200" b="1" dirty="0" smtClean="0">
              <a:effectLst>
                <a:outerShdw blurRad="38100" dist="38100" dir="2700000" algn="tl">
                  <a:srgbClr val="000000">
                    <a:alpha val="43137"/>
                  </a:srgbClr>
                </a:outerShdw>
              </a:effectLst>
              <a:latin typeface="Arial Black" panose="020B0A04020102020204" pitchFamily="34" charset="0"/>
            </a:endParaRPr>
          </a:p>
          <a:p>
            <a:pPr>
              <a:lnSpc>
                <a:spcPct val="150000"/>
              </a:lnSpc>
            </a:pPr>
            <a:r>
              <a:rPr lang="en-US" sz="3200" b="1" dirty="0" smtClean="0">
                <a:effectLst>
                  <a:outerShdw blurRad="38100" dist="38100" dir="2700000" algn="tl">
                    <a:srgbClr val="000000">
                      <a:alpha val="43137"/>
                    </a:srgbClr>
                  </a:outerShdw>
                </a:effectLst>
                <a:latin typeface="Arial Black" panose="020B0A04020102020204" pitchFamily="34" charset="0"/>
              </a:rPr>
              <a:t>	</a:t>
            </a:r>
            <a:endParaRPr lang="en-US" sz="3200" b="1" dirty="0">
              <a:effectLst>
                <a:outerShdw blurRad="38100" dist="38100" dir="2700000" algn="tl">
                  <a:srgbClr val="000000">
                    <a:alpha val="43137"/>
                  </a:srgbClr>
                </a:outerShdw>
              </a:effectLst>
              <a:latin typeface="Arial Black" panose="020B0A04020102020204" pitchFamily="34" charset="0"/>
            </a:endParaRPr>
          </a:p>
        </p:txBody>
      </p:sp>
    </p:spTree>
    <p:extLst>
      <p:ext uri="{BB962C8B-B14F-4D97-AF65-F5344CB8AC3E}">
        <p14:creationId xmlns:p14="http://schemas.microsoft.com/office/powerpoint/2010/main" val="25326490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183642" y="805219"/>
            <a:ext cx="9184943" cy="4093428"/>
          </a:xfrm>
          <a:prstGeom prst="rect">
            <a:avLst/>
          </a:prstGeom>
          <a:noFill/>
        </p:spPr>
        <p:txBody>
          <a:bodyPr wrap="square" rtlCol="0">
            <a:spAutoFit/>
          </a:bodyPr>
          <a:lstStyle/>
          <a:p>
            <a:r>
              <a:rPr lang="en-US" sz="2800" b="1" dirty="0" smtClean="0"/>
              <a:t>					</a:t>
            </a:r>
            <a:r>
              <a:rPr lang="en-US" sz="3200" b="1" dirty="0" smtClean="0">
                <a:latin typeface="Arial Black" panose="020B0A04020102020204" pitchFamily="34" charset="0"/>
              </a:rPr>
              <a:t>INTRODUCTION</a:t>
            </a:r>
          </a:p>
          <a:p>
            <a:endParaRPr lang="fr-FR" sz="3200" b="1" dirty="0">
              <a:latin typeface="Arial Black" panose="020B0A04020102020204" pitchFamily="34" charset="0"/>
            </a:endParaRPr>
          </a:p>
          <a:p>
            <a:r>
              <a:rPr lang="en-US" sz="2800" b="1" dirty="0"/>
              <a:t>Surveying is an essential technique used in construction, mapping, and land development</a:t>
            </a:r>
            <a:r>
              <a:rPr lang="en-US" sz="2800" b="1" dirty="0" smtClean="0"/>
              <a:t>. Surveying </a:t>
            </a:r>
            <a:r>
              <a:rPr lang="en-US" sz="2800" b="1" dirty="0"/>
              <a:t>plays a key role in many industries, helping engineers, architects, and planners create safe and efficient structures. In this presentation, we will explore different surveying methods, tools, and their applications in the modern world.</a:t>
            </a:r>
            <a:endParaRPr lang="fr-FR" sz="2800" dirty="0"/>
          </a:p>
        </p:txBody>
      </p:sp>
    </p:spTree>
    <p:extLst>
      <p:ext uri="{BB962C8B-B14F-4D97-AF65-F5344CB8AC3E}">
        <p14:creationId xmlns:p14="http://schemas.microsoft.com/office/powerpoint/2010/main" val="14088585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714702" y="573206"/>
            <a:ext cx="10583919" cy="2862322"/>
          </a:xfrm>
          <a:prstGeom prst="rect">
            <a:avLst/>
          </a:prstGeom>
          <a:noFill/>
        </p:spPr>
        <p:txBody>
          <a:bodyPr wrap="square" rtlCol="0">
            <a:spAutoFit/>
          </a:bodyPr>
          <a:lstStyle/>
          <a:p>
            <a:pPr marL="2228850" lvl="4" indent="-400050">
              <a:buFont typeface="+mj-lt"/>
              <a:buAutoNum type="romanUcPeriod"/>
            </a:pPr>
            <a:r>
              <a:rPr lang="en-US" sz="3200" b="1" dirty="0">
                <a:latin typeface="Arial Black" panose="020B0A04020102020204" pitchFamily="34" charset="0"/>
              </a:rPr>
              <a:t>SURVEYING</a:t>
            </a:r>
            <a:r>
              <a:rPr lang="en-US" sz="2800" b="1" dirty="0">
                <a:latin typeface="Arial Black" panose="020B0A04020102020204" pitchFamily="34" charset="0"/>
              </a:rPr>
              <a:t> </a:t>
            </a:r>
            <a:r>
              <a:rPr lang="en-US" sz="2800" b="1" dirty="0" smtClean="0">
                <a:latin typeface="Arial Black" panose="020B0A04020102020204" pitchFamily="34" charset="0"/>
              </a:rPr>
              <a:t>METHODS</a:t>
            </a:r>
          </a:p>
          <a:p>
            <a:endParaRPr lang="fr-FR" sz="2800" dirty="0">
              <a:latin typeface="Arial Black" panose="020B0A04020102020204" pitchFamily="34" charset="0"/>
            </a:endParaRPr>
          </a:p>
          <a:p>
            <a:r>
              <a:rPr lang="en-US" sz="2800" b="1" dirty="0"/>
              <a:t>Surveying uses different methods to measure and map land accurately. These methods are divided into traditional and modern techniques</a:t>
            </a:r>
            <a:r>
              <a:rPr lang="en-US" sz="2800" b="1" dirty="0" smtClean="0"/>
              <a:t>.</a:t>
            </a:r>
          </a:p>
          <a:p>
            <a:endParaRPr lang="fr-FR" dirty="0"/>
          </a:p>
          <a:p>
            <a:endParaRPr lang="fr-FR" dirty="0"/>
          </a:p>
        </p:txBody>
      </p:sp>
    </p:spTree>
    <p:extLst>
      <p:ext uri="{BB962C8B-B14F-4D97-AF65-F5344CB8AC3E}">
        <p14:creationId xmlns:p14="http://schemas.microsoft.com/office/powerpoint/2010/main" val="7876173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tretch>
            <a:fillRect/>
          </a:stretch>
        </p:blipFill>
        <p:spPr>
          <a:xfrm>
            <a:off x="5950424" y="3302759"/>
            <a:ext cx="6241575" cy="3555241"/>
          </a:xfrm>
          <a:prstGeom prst="rect">
            <a:avLst/>
          </a:prstGeom>
        </p:spPr>
      </p:pic>
      <p:pic>
        <p:nvPicPr>
          <p:cNvPr id="3" name="Picture 2" descr="A person looking at a telescope&#10;&#10;AI-generated content may be incorrect."/>
          <p:cNvPicPr/>
          <p:nvPr/>
        </p:nvPicPr>
        <p:blipFill>
          <a:blip r:embed="rId3">
            <a:extLst>
              <a:ext uri="{28A0092B-C50C-407E-A947-70E740481C1C}">
                <a14:useLocalDpi xmlns:a14="http://schemas.microsoft.com/office/drawing/2010/main" val="0"/>
              </a:ext>
            </a:extLst>
          </a:blip>
          <a:stretch>
            <a:fillRect/>
          </a:stretch>
        </p:blipFill>
        <p:spPr>
          <a:xfrm>
            <a:off x="5950424" y="1"/>
            <a:ext cx="6241576" cy="3302758"/>
          </a:xfrm>
          <a:prstGeom prst="rect">
            <a:avLst/>
          </a:prstGeom>
        </p:spPr>
      </p:pic>
      <p:sp>
        <p:nvSpPr>
          <p:cNvPr id="4" name="Rectangle 3"/>
          <p:cNvSpPr/>
          <p:nvPr/>
        </p:nvSpPr>
        <p:spPr>
          <a:xfrm>
            <a:off x="594202" y="360822"/>
            <a:ext cx="5130507" cy="584775"/>
          </a:xfrm>
          <a:prstGeom prst="rect">
            <a:avLst/>
          </a:prstGeom>
        </p:spPr>
        <p:txBody>
          <a:bodyPr wrap="none">
            <a:spAutoFit/>
          </a:bodyPr>
          <a:lstStyle/>
          <a:p>
            <a:pPr marL="342900" indent="-342900">
              <a:buFont typeface="+mj-lt"/>
              <a:buAutoNum type="arabicPeriod"/>
            </a:pPr>
            <a:r>
              <a:rPr lang="en-US" sz="3200" b="1" dirty="0">
                <a:latin typeface="Arial Black" panose="020B0A04020102020204" pitchFamily="34" charset="0"/>
              </a:rPr>
              <a:t>	Traditional </a:t>
            </a:r>
            <a:r>
              <a:rPr lang="en-US" sz="3200" b="1" dirty="0" smtClean="0">
                <a:latin typeface="Arial Black" panose="020B0A04020102020204" pitchFamily="34" charset="0"/>
              </a:rPr>
              <a:t>Methods</a:t>
            </a:r>
            <a:endParaRPr lang="fr-FR" sz="3200" dirty="0">
              <a:latin typeface="Arial Black" panose="020B0A04020102020204" pitchFamily="34" charset="0"/>
            </a:endParaRPr>
          </a:p>
        </p:txBody>
      </p:sp>
      <p:sp>
        <p:nvSpPr>
          <p:cNvPr id="5" name="Rectangle 4"/>
          <p:cNvSpPr/>
          <p:nvPr/>
        </p:nvSpPr>
        <p:spPr>
          <a:xfrm>
            <a:off x="187393" y="1193930"/>
            <a:ext cx="5636526" cy="5513945"/>
          </a:xfrm>
          <a:prstGeom prst="rect">
            <a:avLst/>
          </a:prstGeom>
        </p:spPr>
        <p:txBody>
          <a:bodyPr wrap="square">
            <a:spAutoFit/>
          </a:bodyPr>
          <a:lstStyle/>
          <a:p>
            <a:pPr marL="342900" lvl="0" indent="-342900">
              <a:lnSpc>
                <a:spcPct val="115000"/>
              </a:lnSpc>
              <a:spcAft>
                <a:spcPts val="0"/>
              </a:spcAft>
              <a:buFont typeface="Symbol" panose="05050102010706020507" pitchFamily="18" charset="2"/>
              <a:buChar char=""/>
            </a:pPr>
            <a:r>
              <a:rPr lang="en-US" sz="2800" b="1" dirty="0">
                <a:latin typeface="Calibri" panose="020F0502020204030204" pitchFamily="34" charset="0"/>
                <a:ea typeface="Calibri" panose="020F0502020204030204" pitchFamily="34" charset="0"/>
                <a:cs typeface="Times New Roman" panose="02020603050405020304" pitchFamily="18" charset="0"/>
              </a:rPr>
              <a:t>Triangulation: This method involves measuring angles in a network of triangles to calculate distances between points.</a:t>
            </a:r>
            <a:endParaRPr lang="fr-FR"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US" sz="2800" b="1" dirty="0">
                <a:latin typeface="Calibri" panose="020F0502020204030204" pitchFamily="34" charset="0"/>
                <a:ea typeface="Calibri" panose="020F0502020204030204" pitchFamily="34" charset="0"/>
                <a:cs typeface="Times New Roman" panose="02020603050405020304" pitchFamily="18" charset="0"/>
              </a:rPr>
              <a:t>Traversing (Polygon Method): This method connects several points to measure distances and angles along a set path.</a:t>
            </a:r>
            <a:endParaRPr lang="fr-FR"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Symbol" panose="05050102010706020507" pitchFamily="18" charset="2"/>
              <a:buChar char=""/>
            </a:pPr>
            <a:r>
              <a:rPr lang="en-US" sz="2800" b="1" dirty="0">
                <a:latin typeface="Calibri" panose="020F0502020204030204" pitchFamily="34" charset="0"/>
                <a:ea typeface="Calibri" panose="020F0502020204030204" pitchFamily="34" charset="0"/>
                <a:cs typeface="Times New Roman" panose="02020603050405020304" pitchFamily="18" charset="0"/>
              </a:rPr>
              <a:t>Leveling: Used to measure the differences in height between points on the land.</a:t>
            </a:r>
            <a:endParaRPr lang="fr-FR"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512489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0470" y="44913"/>
            <a:ext cx="4472315" cy="625171"/>
          </a:xfrm>
          <a:prstGeom prst="rect">
            <a:avLst/>
          </a:prstGeom>
        </p:spPr>
        <p:txBody>
          <a:bodyPr wrap="none">
            <a:spAutoFit/>
          </a:bodyPr>
          <a:lstStyle/>
          <a:p>
            <a:pPr marL="342900" lvl="0" indent="-342900">
              <a:lnSpc>
                <a:spcPct val="115000"/>
              </a:lnSpc>
              <a:spcAft>
                <a:spcPts val="1000"/>
              </a:spcAft>
              <a:buFont typeface="+mj-lt"/>
              <a:buAutoNum type="arabicPeriod" startAt="2"/>
            </a:pPr>
            <a:r>
              <a:rPr lang="en-US" sz="3200" b="1" dirty="0">
                <a:latin typeface="Arial Black" panose="020B0A04020102020204" pitchFamily="34" charset="0"/>
                <a:ea typeface="Calibri" panose="020F0502020204030204" pitchFamily="34" charset="0"/>
                <a:cs typeface="Times New Roman" panose="02020603050405020304" pitchFamily="18" charset="0"/>
              </a:rPr>
              <a:t>Modern Methods:</a:t>
            </a:r>
            <a:endParaRPr lang="fr-FR" sz="3200" dirty="0">
              <a:effectLst/>
              <a:latin typeface="Arial Black" panose="020B0A04020102020204" pitchFamily="34" charset="0"/>
              <a:ea typeface="Calibri" panose="020F0502020204030204" pitchFamily="34" charset="0"/>
              <a:cs typeface="Times New Roman" panose="02020603050405020304" pitchFamily="18" charset="0"/>
            </a:endParaRPr>
          </a:p>
        </p:txBody>
      </p:sp>
      <p:pic>
        <p:nvPicPr>
          <p:cNvPr id="3" name="Picture 3" descr="A person using a device to measure land&#10;&#10;AI-generated content may be incorrect."/>
          <p:cNvPicPr/>
          <p:nvPr/>
        </p:nvPicPr>
        <p:blipFill>
          <a:blip r:embed="rId2">
            <a:extLst>
              <a:ext uri="{28A0092B-C50C-407E-A947-70E740481C1C}">
                <a14:useLocalDpi xmlns:a14="http://schemas.microsoft.com/office/drawing/2010/main" val="0"/>
              </a:ext>
            </a:extLst>
          </a:blip>
          <a:stretch>
            <a:fillRect/>
          </a:stretch>
        </p:blipFill>
        <p:spPr>
          <a:xfrm>
            <a:off x="6073253" y="-130628"/>
            <a:ext cx="6118746" cy="6858000"/>
          </a:xfrm>
          <a:prstGeom prst="rect">
            <a:avLst/>
          </a:prstGeom>
        </p:spPr>
      </p:pic>
      <p:sp>
        <p:nvSpPr>
          <p:cNvPr id="4" name="Rectangle 3"/>
          <p:cNvSpPr/>
          <p:nvPr/>
        </p:nvSpPr>
        <p:spPr>
          <a:xfrm>
            <a:off x="283778" y="670084"/>
            <a:ext cx="5789475" cy="6166816"/>
          </a:xfrm>
          <a:prstGeom prst="rect">
            <a:avLst/>
          </a:prstGeom>
        </p:spPr>
        <p:txBody>
          <a:bodyPr wrap="square">
            <a:spAutoFit/>
          </a:bodyPr>
          <a:lstStyle/>
          <a:p>
            <a:pPr marL="342900" lvl="0" indent="-342900">
              <a:lnSpc>
                <a:spcPct val="115000"/>
              </a:lnSpc>
              <a:spcAft>
                <a:spcPts val="0"/>
              </a:spcAft>
              <a:buFont typeface="Symbol" panose="05050102010706020507" pitchFamily="18" charset="2"/>
              <a:buChar char=""/>
            </a:pPr>
            <a:r>
              <a:rPr lang="en-US" sz="2400" b="1" dirty="0">
                <a:latin typeface="Calibri" panose="020F0502020204030204" pitchFamily="34" charset="0"/>
                <a:ea typeface="Calibri" panose="020F0502020204030204" pitchFamily="34" charset="0"/>
                <a:cs typeface="Times New Roman" panose="02020603050405020304" pitchFamily="18" charset="0"/>
              </a:rPr>
              <a:t>GPS (Global Positioning System): Uses satellites to provide precise location coordinates, making surveying faster and more efficient.</a:t>
            </a:r>
            <a:endParaRPr lang="fr-FR"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US" sz="2400" b="1" dirty="0">
                <a:latin typeface="Calibri" panose="020F0502020204030204" pitchFamily="34" charset="0"/>
                <a:ea typeface="Calibri" panose="020F0502020204030204" pitchFamily="34" charset="0"/>
                <a:cs typeface="Times New Roman" panose="02020603050405020304" pitchFamily="18" charset="0"/>
              </a:rPr>
              <a:t>Remote Sensing (Drones, Satellites): Captures aerial images to map large areas accurately.</a:t>
            </a:r>
            <a:endParaRPr lang="fr-FR"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Symbol" panose="05050102010706020507" pitchFamily="18" charset="2"/>
              <a:buChar char=""/>
            </a:pPr>
            <a:r>
              <a:rPr lang="en-US" sz="2400" b="1" dirty="0">
                <a:latin typeface="Calibri" panose="020F0502020204030204" pitchFamily="34" charset="0"/>
                <a:ea typeface="Calibri" panose="020F0502020204030204" pitchFamily="34" charset="0"/>
                <a:cs typeface="Times New Roman" panose="02020603050405020304" pitchFamily="18" charset="0"/>
              </a:rPr>
              <a:t>Lidar (Light Detection and Ranging): Uses laser beams to create detailed 3D models of the land.</a:t>
            </a:r>
            <a:endParaRPr lang="fr-FR" sz="24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2400" b="1" dirty="0">
                <a:latin typeface="Calibri" panose="020F0502020204030204" pitchFamily="34" charset="0"/>
                <a:ea typeface="Calibri" panose="020F0502020204030204" pitchFamily="34" charset="0"/>
                <a:cs typeface="Times New Roman" panose="02020603050405020304" pitchFamily="18" charset="0"/>
              </a:rPr>
              <a:t>These advancements have made surveying more accurate, faster, and accessible, helping in construction, urban planning, and environmental management.</a:t>
            </a:r>
            <a:endParaRPr lang="fr-FR"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921546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1478" y="166460"/>
            <a:ext cx="4998291" cy="625364"/>
          </a:xfrm>
          <a:prstGeom prst="rect">
            <a:avLst/>
          </a:prstGeom>
        </p:spPr>
        <p:txBody>
          <a:bodyPr wrap="none">
            <a:spAutoFit/>
          </a:bodyPr>
          <a:lstStyle/>
          <a:p>
            <a:pPr marL="400050" indent="-400050">
              <a:lnSpc>
                <a:spcPct val="115000"/>
              </a:lnSpc>
              <a:spcAft>
                <a:spcPts val="1000"/>
              </a:spcAft>
              <a:buFont typeface="+mj-lt"/>
              <a:buAutoNum type="romanUcPeriod" startAt="2"/>
            </a:pPr>
            <a:r>
              <a:rPr lang="en-US" sz="3200" b="1" dirty="0">
                <a:effectLst>
                  <a:outerShdw blurRad="38100" dist="38100" dir="2700000" algn="tl">
                    <a:srgbClr val="000000">
                      <a:alpha val="43137"/>
                    </a:srgbClr>
                  </a:outerShdw>
                </a:effectLst>
                <a:latin typeface="Arial Black" panose="020B0A04020102020204" pitchFamily="34" charset="0"/>
                <a:ea typeface="Calibri" panose="020F0502020204030204" pitchFamily="34" charset="0"/>
                <a:cs typeface="Times New Roman" panose="02020603050405020304" pitchFamily="18" charset="0"/>
              </a:rPr>
              <a:t>SURVEYING</a:t>
            </a:r>
            <a:r>
              <a:rPr lang="en-US" sz="32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 </a:t>
            </a:r>
            <a:r>
              <a:rPr lang="en-US" sz="3200" b="1" dirty="0">
                <a:effectLst>
                  <a:outerShdw blurRad="38100" dist="38100" dir="2700000" algn="tl">
                    <a:srgbClr val="000000">
                      <a:alpha val="43137"/>
                    </a:srgbClr>
                  </a:outerShdw>
                </a:effectLst>
                <a:latin typeface="Arial Black" panose="020B0A04020102020204" pitchFamily="34" charset="0"/>
                <a:ea typeface="Calibri" panose="020F0502020204030204" pitchFamily="34" charset="0"/>
                <a:cs typeface="Times New Roman" panose="02020603050405020304" pitchFamily="18" charset="0"/>
              </a:rPr>
              <a:t>TOOLS</a:t>
            </a:r>
            <a:endParaRPr lang="fr-FR" sz="3200" b="1" dirty="0">
              <a:effectLst>
                <a:outerShdw blurRad="38100" dist="38100" dir="2700000" algn="tl">
                  <a:srgbClr val="000000">
                    <a:alpha val="43137"/>
                  </a:srgbClr>
                </a:outerShdw>
              </a:effectLst>
              <a:latin typeface="Arial Black" panose="020B0A0402010202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210206" y="806667"/>
            <a:ext cx="6476575" cy="3193695"/>
          </a:xfrm>
          <a:prstGeom prst="rect">
            <a:avLst/>
          </a:prstGeom>
        </p:spPr>
        <p:txBody>
          <a:bodyPr wrap="square">
            <a:spAutoFit/>
          </a:bodyPr>
          <a:lstStyle/>
          <a:p>
            <a:pPr>
              <a:lnSpc>
                <a:spcPct val="115000"/>
              </a:lnSpc>
              <a:spcAft>
                <a:spcPts val="1000"/>
              </a:spcAft>
            </a:pPr>
            <a:r>
              <a:rPr lang="en-US" sz="2400" b="1" dirty="0">
                <a:latin typeface="Calibri" panose="020F0502020204030204" pitchFamily="34" charset="0"/>
                <a:ea typeface="Calibri" panose="020F0502020204030204" pitchFamily="34" charset="0"/>
                <a:cs typeface="Times New Roman" panose="02020603050405020304" pitchFamily="18" charset="0"/>
              </a:rPr>
              <a:t>Surveying tools are essential for making accurate measurements on the ground. Here are some of the main instruments used by surveyors:</a:t>
            </a:r>
            <a:endParaRPr lang="fr-FR"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Wingdings" panose="05000000000000000000" pitchFamily="2" charset="2"/>
              <a:buChar char="§"/>
            </a:pPr>
            <a:r>
              <a:rPr lang="en-US" sz="2400" b="1" u="heavy" dirty="0">
                <a:latin typeface="Calibri" panose="020F0502020204030204" pitchFamily="34" charset="0"/>
                <a:ea typeface="Calibri" panose="020F0502020204030204" pitchFamily="34" charset="0"/>
                <a:cs typeface="Times New Roman" panose="02020603050405020304" pitchFamily="18" charset="0"/>
              </a:rPr>
              <a:t>The Theodolite</a:t>
            </a:r>
            <a:r>
              <a:rPr lang="en-US" sz="2400" b="1" dirty="0">
                <a:latin typeface="Calibri" panose="020F0502020204030204" pitchFamily="34" charset="0"/>
                <a:ea typeface="Calibri" panose="020F0502020204030204" pitchFamily="34" charset="0"/>
                <a:cs typeface="Times New Roman" panose="02020603050405020304" pitchFamily="18" charset="0"/>
              </a:rPr>
              <a:t>: This instrument measures horizontal and vertical angles, which are crucial for determining directions and positions of points on the land.</a:t>
            </a:r>
            <a:endParaRPr lang="fr-FR" sz="2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4" descr="A yellow and black device&#10;&#10;AI-generated content may be incorrect."/>
          <p:cNvPicPr/>
          <p:nvPr/>
        </p:nvPicPr>
        <p:blipFill>
          <a:blip r:embed="rId2">
            <a:extLst>
              <a:ext uri="{28A0092B-C50C-407E-A947-70E740481C1C}">
                <a14:useLocalDpi xmlns:a14="http://schemas.microsoft.com/office/drawing/2010/main" val="0"/>
              </a:ext>
            </a:extLst>
          </a:blip>
          <a:stretch>
            <a:fillRect/>
          </a:stretch>
        </p:blipFill>
        <p:spPr>
          <a:xfrm>
            <a:off x="7273636" y="82112"/>
            <a:ext cx="4796155" cy="2748915"/>
          </a:xfrm>
          <a:prstGeom prst="rect">
            <a:avLst/>
          </a:prstGeom>
        </p:spPr>
      </p:pic>
      <p:sp>
        <p:nvSpPr>
          <p:cNvPr id="5" name="Rectangle 4"/>
          <p:cNvSpPr/>
          <p:nvPr/>
        </p:nvSpPr>
        <p:spPr>
          <a:xfrm>
            <a:off x="210207" y="3889057"/>
            <a:ext cx="7219294" cy="1200329"/>
          </a:xfrm>
          <a:prstGeom prst="rect">
            <a:avLst/>
          </a:prstGeom>
        </p:spPr>
        <p:txBody>
          <a:bodyPr wrap="square">
            <a:spAutoFit/>
          </a:bodyPr>
          <a:lstStyle/>
          <a:p>
            <a:pPr marL="342900" indent="-342900">
              <a:buFont typeface="Wingdings" panose="05000000000000000000" pitchFamily="2" charset="2"/>
              <a:buChar char="§"/>
            </a:pPr>
            <a:r>
              <a:rPr lang="en-US" sz="2400" b="1" u="heavy" dirty="0" smtClean="0">
                <a:latin typeface="Calibri" panose="020F0502020204030204" pitchFamily="34" charset="0"/>
                <a:ea typeface="Calibri" panose="020F0502020204030204" pitchFamily="34" charset="0"/>
                <a:cs typeface="Times New Roman" panose="02020603050405020304" pitchFamily="18" charset="0"/>
              </a:rPr>
              <a:t>Optical Level</a:t>
            </a:r>
            <a:r>
              <a:rPr lang="en-US" sz="2400" b="1" dirty="0" smtClean="0">
                <a:latin typeface="Calibri" panose="020F0502020204030204" pitchFamily="34" charset="0"/>
                <a:ea typeface="Calibri" panose="020F0502020204030204" pitchFamily="34" charset="0"/>
                <a:cs typeface="Times New Roman" panose="02020603050405020304" pitchFamily="18" charset="0"/>
              </a:rPr>
              <a:t>: Used to measure height differences between two points, important for establishing levels and slopes</a:t>
            </a:r>
            <a:endParaRPr lang="fr-FR" sz="2400" dirty="0"/>
          </a:p>
        </p:txBody>
      </p:sp>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7429500" y="4200525"/>
            <a:ext cx="4762500" cy="2657475"/>
          </a:xfrm>
          <a:prstGeom prst="rect">
            <a:avLst/>
          </a:prstGeom>
        </p:spPr>
      </p:pic>
    </p:spTree>
    <p:extLst>
      <p:ext uri="{BB962C8B-B14F-4D97-AF65-F5344CB8AC3E}">
        <p14:creationId xmlns:p14="http://schemas.microsoft.com/office/powerpoint/2010/main" val="692713394"/>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9266" y="1080558"/>
            <a:ext cx="6096000" cy="3889976"/>
          </a:xfrm>
          <a:prstGeom prst="rect">
            <a:avLst/>
          </a:prstGeom>
        </p:spPr>
        <p:txBody>
          <a:bodyPr>
            <a:spAutoFit/>
          </a:bodyPr>
          <a:lstStyle/>
          <a:p>
            <a:pPr marL="342900" lvl="0" indent="-342900">
              <a:lnSpc>
                <a:spcPct val="115000"/>
              </a:lnSpc>
              <a:spcAft>
                <a:spcPts val="0"/>
              </a:spcAft>
              <a:buFont typeface="Wingdings" panose="05000000000000000000" pitchFamily="2" charset="2"/>
              <a:buChar char="§"/>
            </a:pPr>
            <a:r>
              <a:rPr lang="en-US" sz="2400" b="1" u="heavy" dirty="0">
                <a:latin typeface="Calibri" panose="020F0502020204030204" pitchFamily="34" charset="0"/>
                <a:ea typeface="Calibri" panose="020F0502020204030204" pitchFamily="34" charset="0"/>
                <a:cs typeface="Times New Roman" panose="02020603050405020304" pitchFamily="18" charset="0"/>
              </a:rPr>
              <a:t>Total Station</a:t>
            </a:r>
            <a:r>
              <a:rPr lang="en-US" sz="2400" b="1" dirty="0">
                <a:latin typeface="Calibri" panose="020F0502020204030204" pitchFamily="34" charset="0"/>
                <a:ea typeface="Calibri" panose="020F0502020204030204" pitchFamily="34" charset="0"/>
                <a:cs typeface="Times New Roman" panose="02020603050405020304" pitchFamily="18" charset="0"/>
              </a:rPr>
              <a:t>: A more modern tool that combines the measurement of distances and angles electronically, allowing for faster and more accurate surveys.</a:t>
            </a:r>
            <a:endParaRPr lang="fr-FR"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Wingdings" panose="05000000000000000000" pitchFamily="2" charset="2"/>
              <a:buChar char="§"/>
            </a:pPr>
            <a:r>
              <a:rPr lang="en-US" sz="2400" b="1" u="heavy" dirty="0">
                <a:latin typeface="Calibri" panose="020F0502020204030204" pitchFamily="34" charset="0"/>
                <a:ea typeface="Calibri" panose="020F0502020204030204" pitchFamily="34" charset="0"/>
                <a:cs typeface="Times New Roman" panose="02020603050405020304" pitchFamily="18" charset="0"/>
              </a:rPr>
              <a:t>Differential GPS</a:t>
            </a:r>
            <a:r>
              <a:rPr lang="en-US" sz="2400" b="1" dirty="0">
                <a:latin typeface="Calibri" panose="020F0502020204030204" pitchFamily="34" charset="0"/>
                <a:ea typeface="Calibri" panose="020F0502020204030204" pitchFamily="34" charset="0"/>
                <a:cs typeface="Times New Roman" panose="02020603050405020304" pitchFamily="18" charset="0"/>
              </a:rPr>
              <a:t>: A positioning system that uses satellites to obtain extremely precise coordinates, often used for large-scale surveys.</a:t>
            </a:r>
            <a:endParaRPr lang="fr-FR" sz="2400"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spcAft>
                <a:spcPts val="1000"/>
              </a:spcAft>
            </a:pPr>
            <a:r>
              <a:rPr lang="en-US" sz="2400" b="1" dirty="0">
                <a:latin typeface="Calibri" panose="020F0502020204030204" pitchFamily="34" charset="0"/>
                <a:ea typeface="Calibri" panose="020F0502020204030204" pitchFamily="34" charset="0"/>
                <a:cs typeface="Times New Roman" panose="02020603050405020304" pitchFamily="18" charset="0"/>
              </a:rPr>
              <a:t> </a:t>
            </a:r>
            <a:endParaRPr lang="fr-FR" sz="24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5"/>
          <p:cNvPicPr/>
          <p:nvPr/>
        </p:nvPicPr>
        <p:blipFill>
          <a:blip r:embed="rId2">
            <a:extLst>
              <a:ext uri="{28A0092B-C50C-407E-A947-70E740481C1C}">
                <a14:useLocalDpi xmlns:a14="http://schemas.microsoft.com/office/drawing/2010/main" val="0"/>
              </a:ext>
            </a:extLst>
          </a:blip>
          <a:stretch>
            <a:fillRect/>
          </a:stretch>
        </p:blipFill>
        <p:spPr>
          <a:xfrm>
            <a:off x="7429500" y="0"/>
            <a:ext cx="4762500" cy="6858000"/>
          </a:xfrm>
          <a:prstGeom prst="rect">
            <a:avLst/>
          </a:prstGeom>
        </p:spPr>
      </p:pic>
    </p:spTree>
    <p:extLst>
      <p:ext uri="{BB962C8B-B14F-4D97-AF65-F5344CB8AC3E}">
        <p14:creationId xmlns:p14="http://schemas.microsoft.com/office/powerpoint/2010/main" val="1282976538"/>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7505" y="1307692"/>
            <a:ext cx="5190016" cy="3618426"/>
          </a:xfrm>
          <a:prstGeom prst="rect">
            <a:avLst/>
          </a:prstGeom>
        </p:spPr>
        <p:txBody>
          <a:bodyPr wrap="square">
            <a:spAutoFit/>
          </a:bodyPr>
          <a:lstStyle/>
          <a:p>
            <a:pPr marL="342900" lvl="0" indent="-342900">
              <a:lnSpc>
                <a:spcPct val="115000"/>
              </a:lnSpc>
              <a:spcAft>
                <a:spcPts val="1000"/>
              </a:spcAft>
              <a:buFont typeface="Symbol" panose="05050102010706020507" pitchFamily="18" charset="2"/>
              <a:buChar char=""/>
            </a:pPr>
            <a:r>
              <a:rPr lang="en-US" sz="2400" b="1" u="heavy" dirty="0">
                <a:latin typeface="Calibri" panose="020F0502020204030204" pitchFamily="34" charset="0"/>
                <a:ea typeface="Calibri" panose="020F0502020204030204" pitchFamily="34" charset="0"/>
                <a:cs typeface="Times New Roman" panose="02020603050405020304" pitchFamily="18" charset="0"/>
              </a:rPr>
              <a:t>Drones and Lidar</a:t>
            </a:r>
            <a:r>
              <a:rPr lang="en-US" sz="2400" b="1" dirty="0">
                <a:latin typeface="Calibri" panose="020F0502020204030204" pitchFamily="34" charset="0"/>
                <a:ea typeface="Calibri" panose="020F0502020204030204" pitchFamily="34" charset="0"/>
                <a:cs typeface="Times New Roman" panose="02020603050405020304" pitchFamily="18" charset="0"/>
              </a:rPr>
              <a:t>: Drones equipped with Lidar sensors allow for creating detailed 3D maps and models of the terrain, reducing work time and increasing accuracy.</a:t>
            </a:r>
            <a:endParaRPr lang="fr-FR" sz="24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2400" b="1" dirty="0">
                <a:latin typeface="Calibri" panose="020F0502020204030204" pitchFamily="34" charset="0"/>
                <a:ea typeface="Calibri" panose="020F0502020204030204" pitchFamily="34" charset="0"/>
                <a:cs typeface="Times New Roman" panose="02020603050405020304" pitchFamily="18" charset="0"/>
              </a:rPr>
              <a:t>These tools, combined with modern technology, make surveying faster, more precise, and more accessible.</a:t>
            </a:r>
            <a:endParaRPr lang="fr-FR" sz="2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6"/>
          <p:cNvPicPr/>
          <p:nvPr/>
        </p:nvPicPr>
        <p:blipFill>
          <a:blip r:embed="rId2">
            <a:extLst>
              <a:ext uri="{28A0092B-C50C-407E-A947-70E740481C1C}">
                <a14:useLocalDpi xmlns:a14="http://schemas.microsoft.com/office/drawing/2010/main" val="0"/>
              </a:ext>
            </a:extLst>
          </a:blip>
          <a:stretch>
            <a:fillRect/>
          </a:stretch>
        </p:blipFill>
        <p:spPr>
          <a:xfrm>
            <a:off x="5467521" y="0"/>
            <a:ext cx="6724479" cy="6858000"/>
          </a:xfrm>
          <a:prstGeom prst="rect">
            <a:avLst/>
          </a:prstGeom>
        </p:spPr>
      </p:pic>
    </p:spTree>
    <p:extLst>
      <p:ext uri="{BB962C8B-B14F-4D97-AF65-F5344CB8AC3E}">
        <p14:creationId xmlns:p14="http://schemas.microsoft.com/office/powerpoint/2010/main" val="2177749662"/>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42293" y="357529"/>
            <a:ext cx="7513595" cy="625171"/>
          </a:xfrm>
          <a:prstGeom prst="rect">
            <a:avLst/>
          </a:prstGeom>
        </p:spPr>
        <p:txBody>
          <a:bodyPr wrap="none">
            <a:spAutoFit/>
          </a:bodyPr>
          <a:lstStyle/>
          <a:p>
            <a:pPr marL="400050" indent="-400050">
              <a:lnSpc>
                <a:spcPct val="115000"/>
              </a:lnSpc>
              <a:spcAft>
                <a:spcPts val="1000"/>
              </a:spcAft>
              <a:buFont typeface="+mj-lt"/>
              <a:buAutoNum type="romanUcPeriod" startAt="3"/>
            </a:pPr>
            <a:r>
              <a:rPr lang="en-US" sz="3200" b="1" dirty="0">
                <a:latin typeface="Arial Black" panose="020B0A04020102020204" pitchFamily="34" charset="0"/>
                <a:ea typeface="Calibri" panose="020F0502020204030204" pitchFamily="34" charset="0"/>
                <a:cs typeface="Times New Roman" panose="02020603050405020304" pitchFamily="18" charset="0"/>
              </a:rPr>
              <a:t>APPLICATION OF SURVEYING</a:t>
            </a:r>
            <a:endParaRPr lang="fr-FR" sz="3200" b="1" dirty="0">
              <a:effectLst/>
              <a:latin typeface="Arial Black" panose="020B0A0402010202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627796" y="1446724"/>
            <a:ext cx="10235821" cy="4467890"/>
          </a:xfrm>
          <a:prstGeom prst="rect">
            <a:avLst/>
          </a:prstGeom>
        </p:spPr>
        <p:txBody>
          <a:bodyPr wrap="square">
            <a:spAutoFit/>
          </a:bodyPr>
          <a:lstStyle/>
          <a:p>
            <a:pPr>
              <a:lnSpc>
                <a:spcPct val="115000"/>
              </a:lnSpc>
              <a:spcAft>
                <a:spcPts val="1000"/>
              </a:spcAft>
            </a:pPr>
            <a:r>
              <a:rPr lang="en-US" sz="2400" b="1" dirty="0">
                <a:latin typeface="Calibri" panose="020F0502020204030204" pitchFamily="34" charset="0"/>
                <a:ea typeface="Calibri" panose="020F0502020204030204" pitchFamily="34" charset="0"/>
                <a:cs typeface="Times New Roman" panose="02020603050405020304" pitchFamily="18" charset="0"/>
              </a:rPr>
              <a:t>Construction and Urban Planning: Photo of a construction site with surveyors at work, or a city planning model.</a:t>
            </a:r>
            <a:endParaRPr lang="fr-FR"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US" sz="2400" b="1" dirty="0">
                <a:latin typeface="Calibri" panose="020F0502020204030204" pitchFamily="34" charset="0"/>
                <a:ea typeface="Calibri" panose="020F0502020204030204" pitchFamily="34" charset="0"/>
                <a:cs typeface="Times New Roman" panose="02020603050405020304" pitchFamily="18" charset="0"/>
              </a:rPr>
              <a:t>Mapping and Geodesy: Image of topographic maps or digital maps created by surveyors.</a:t>
            </a:r>
            <a:endParaRPr lang="fr-FR"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US" sz="2400" b="1" dirty="0">
                <a:latin typeface="Calibri" panose="020F0502020204030204" pitchFamily="34" charset="0"/>
                <a:ea typeface="Calibri" panose="020F0502020204030204" pitchFamily="34" charset="0"/>
                <a:cs typeface="Times New Roman" panose="02020603050405020304" pitchFamily="18" charset="0"/>
              </a:rPr>
              <a:t>Precision Agriculture: Photo of a farmer using surveying technology or a digital map to manage crops.</a:t>
            </a:r>
            <a:endParaRPr lang="fr-FR"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US" sz="2400" b="1" dirty="0">
                <a:latin typeface="Calibri" panose="020F0502020204030204" pitchFamily="34" charset="0"/>
                <a:ea typeface="Calibri" panose="020F0502020204030204" pitchFamily="34" charset="0"/>
                <a:cs typeface="Times New Roman" panose="02020603050405020304" pitchFamily="18" charset="0"/>
              </a:rPr>
              <a:t>Infrastructure Management: Image of a bridge or road with surveyors inspecting existing infrastructure.</a:t>
            </a:r>
            <a:endParaRPr lang="fr-FR"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Symbol" panose="05050102010706020507" pitchFamily="18" charset="2"/>
              <a:buChar char=""/>
            </a:pPr>
            <a:r>
              <a:rPr lang="en-US" sz="2400" b="1" dirty="0">
                <a:latin typeface="Calibri" panose="020F0502020204030204" pitchFamily="34" charset="0"/>
                <a:ea typeface="Calibri" panose="020F0502020204030204" pitchFamily="34" charset="0"/>
                <a:cs typeface="Times New Roman" panose="02020603050405020304" pitchFamily="18" charset="0"/>
              </a:rPr>
              <a:t>Environmental Protection: Image of a natural area, like a forest or mountain, being monitored by surveyors or a drone.</a:t>
            </a:r>
            <a:endParaRPr lang="fr-FR"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282158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0045" y="343882"/>
            <a:ext cx="10343922" cy="625171"/>
          </a:xfrm>
          <a:prstGeom prst="rect">
            <a:avLst/>
          </a:prstGeom>
        </p:spPr>
        <p:txBody>
          <a:bodyPr wrap="none">
            <a:spAutoFit/>
          </a:bodyPr>
          <a:lstStyle/>
          <a:p>
            <a:pPr marL="571500" indent="-571500">
              <a:lnSpc>
                <a:spcPct val="115000"/>
              </a:lnSpc>
              <a:spcAft>
                <a:spcPts val="1000"/>
              </a:spcAft>
              <a:buFont typeface="+mj-lt"/>
              <a:buAutoNum type="romanUcPeriod" startAt="4"/>
            </a:pPr>
            <a:r>
              <a:rPr lang="en-US" sz="3200" b="1" dirty="0" smtClean="0">
                <a:latin typeface="Arial Black" panose="020B0A04020102020204" pitchFamily="34" charset="0"/>
                <a:ea typeface="Calibri" panose="020F0502020204030204" pitchFamily="34" charset="0"/>
                <a:cs typeface="Times New Roman" panose="02020603050405020304" pitchFamily="18" charset="0"/>
              </a:rPr>
              <a:t>CHALLENGES </a:t>
            </a:r>
            <a:r>
              <a:rPr lang="en-US" sz="3200" b="1" dirty="0">
                <a:latin typeface="Arial Black" panose="020B0A04020102020204" pitchFamily="34" charset="0"/>
                <a:ea typeface="Calibri" panose="020F0502020204030204" pitchFamily="34" charset="0"/>
                <a:cs typeface="Times New Roman" panose="02020603050405020304" pitchFamily="18" charset="0"/>
              </a:rPr>
              <a:t>AND LIMITS OF SURVEYING</a:t>
            </a:r>
            <a:endParaRPr lang="fr-FR" sz="3200" dirty="0">
              <a:effectLst/>
              <a:latin typeface="Arial Black" panose="020B0A0402010202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361666" y="1339385"/>
            <a:ext cx="12192000" cy="492122"/>
          </a:xfrm>
          <a:prstGeom prst="rect">
            <a:avLst/>
          </a:prstGeom>
        </p:spPr>
        <p:txBody>
          <a:bodyPr wrap="square">
            <a:spAutoFit/>
          </a:bodyPr>
          <a:lstStyle/>
          <a:p>
            <a:pPr>
              <a:lnSpc>
                <a:spcPct val="115000"/>
              </a:lnSpc>
              <a:spcAft>
                <a:spcPts val="1000"/>
              </a:spcAft>
            </a:pPr>
            <a:r>
              <a:rPr lang="en-US" sz="2400" b="1" dirty="0">
                <a:latin typeface="Calibri" panose="020F0502020204030204" pitchFamily="34" charset="0"/>
                <a:ea typeface="Calibri" panose="020F0502020204030204" pitchFamily="34" charset="0"/>
                <a:cs typeface="Times New Roman" panose="02020603050405020304" pitchFamily="18" charset="0"/>
              </a:rPr>
              <a:t>Surveying </a:t>
            </a:r>
            <a:r>
              <a:rPr lang="en-US" sz="2400" b="1" dirty="0" smtClean="0">
                <a:latin typeface="Calibri" panose="020F0502020204030204" pitchFamily="34" charset="0"/>
                <a:ea typeface="Calibri" panose="020F0502020204030204" pitchFamily="34" charset="0"/>
                <a:cs typeface="Times New Roman" panose="02020603050405020304" pitchFamily="18" charset="0"/>
              </a:rPr>
              <a:t>Is essential for land management but comes with challenges and limitation:</a:t>
            </a:r>
            <a:endParaRPr lang="en-US" sz="2400" b="1" dirty="0" smtClean="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232012" y="1831507"/>
            <a:ext cx="11959988" cy="4018216"/>
          </a:xfrm>
          <a:prstGeom prst="rect">
            <a:avLst/>
          </a:prstGeom>
        </p:spPr>
        <p:txBody>
          <a:bodyPr wrap="square">
            <a:spAutoFit/>
          </a:bodyPr>
          <a:lstStyle/>
          <a:p>
            <a:pPr>
              <a:lnSpc>
                <a:spcPct val="115000"/>
              </a:lnSpc>
              <a:spcAft>
                <a:spcPts val="1000"/>
              </a:spcAft>
            </a:pPr>
            <a:r>
              <a:rPr lang="en-US" sz="2400" b="1" u="heavy" dirty="0">
                <a:latin typeface="Calibri" panose="020F0502020204030204" pitchFamily="34" charset="0"/>
                <a:ea typeface="Calibri" panose="020F0502020204030204" pitchFamily="34" charset="0"/>
                <a:cs typeface="Times New Roman" panose="02020603050405020304" pitchFamily="18" charset="0"/>
              </a:rPr>
              <a:t>Challenges in Surveying</a:t>
            </a:r>
            <a:r>
              <a:rPr lang="en-US" sz="2400" b="1" dirty="0">
                <a:latin typeface="Calibri" panose="020F0502020204030204" pitchFamily="34" charset="0"/>
                <a:ea typeface="Calibri" panose="020F0502020204030204" pitchFamily="34" charset="0"/>
                <a:cs typeface="Times New Roman" panose="02020603050405020304" pitchFamily="18" charset="0"/>
              </a:rPr>
              <a:t>:</a:t>
            </a:r>
            <a:endParaRPr lang="fr-FR"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US" sz="2400" b="1" dirty="0">
                <a:latin typeface="Calibri" panose="020F0502020204030204" pitchFamily="34" charset="0"/>
                <a:ea typeface="Calibri" panose="020F0502020204030204" pitchFamily="34" charset="0"/>
                <a:cs typeface="Times New Roman" panose="02020603050405020304" pitchFamily="18" charset="0"/>
              </a:rPr>
              <a:t>Data Accuracy and Reliability: Inaccurate measurements can lead to property disputes, construction errors, and economic losses. </a:t>
            </a:r>
            <a:endParaRPr lang="fr-FR"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US" sz="2400" b="1" dirty="0">
                <a:latin typeface="Calibri" panose="020F0502020204030204" pitchFamily="34" charset="0"/>
                <a:ea typeface="Calibri" panose="020F0502020204030204" pitchFamily="34" charset="0"/>
                <a:cs typeface="Times New Roman" panose="02020603050405020304" pitchFamily="18" charset="0"/>
              </a:rPr>
              <a:t>Technological Advancements: Integrating new technologies like GPS and Lidar requires continuous professional development to maintain service quality. </a:t>
            </a:r>
            <a:endParaRPr lang="fr-FR"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US" sz="2400" b="1" dirty="0">
                <a:latin typeface="Calibri" panose="020F0502020204030204" pitchFamily="34" charset="0"/>
                <a:ea typeface="Calibri" panose="020F0502020204030204" pitchFamily="34" charset="0"/>
                <a:cs typeface="Times New Roman" panose="02020603050405020304" pitchFamily="18" charset="0"/>
              </a:rPr>
              <a:t>Environmental Impact: Surveying activities should minimize ecological disturbances, especially when using drones or </a:t>
            </a:r>
            <a:r>
              <a:rPr lang="en-US" sz="2400" b="1" dirty="0" smtClean="0">
                <a:latin typeface="Calibri" panose="020F0502020204030204" pitchFamily="34" charset="0"/>
                <a:ea typeface="Calibri" panose="020F0502020204030204" pitchFamily="34" charset="0"/>
                <a:cs typeface="Times New Roman" panose="02020603050405020304" pitchFamily="18" charset="0"/>
              </a:rPr>
              <a:t>altering sensitive terrains. </a:t>
            </a:r>
          </a:p>
          <a:p>
            <a:pPr marL="342900" lvl="0" indent="-342900">
              <a:lnSpc>
                <a:spcPct val="115000"/>
              </a:lnSpc>
              <a:spcAft>
                <a:spcPts val="1000"/>
              </a:spcAft>
              <a:buFont typeface="Symbol" panose="05050102010706020507" pitchFamily="18" charset="2"/>
              <a:buChar char=""/>
            </a:pPr>
            <a:r>
              <a:rPr lang="en-US" sz="2400" b="1" dirty="0" smtClean="0">
                <a:latin typeface="Calibri" panose="020F0502020204030204" pitchFamily="34" charset="0"/>
                <a:ea typeface="Calibri" panose="020F0502020204030204" pitchFamily="34" charset="0"/>
                <a:cs typeface="Times New Roman" panose="02020603050405020304" pitchFamily="18" charset="0"/>
              </a:rPr>
              <a:t>Cost and Accessibility: Surveying services can be expensive, potentially limiting access for certain property owners or budget-constrained projects.</a:t>
            </a:r>
            <a:endParaRPr lang="fr-FR"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572580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0376" y="883625"/>
            <a:ext cx="12192000" cy="5091650"/>
          </a:xfrm>
          <a:prstGeom prst="rect">
            <a:avLst/>
          </a:prstGeom>
        </p:spPr>
        <p:txBody>
          <a:bodyPr wrap="square">
            <a:spAutoFit/>
          </a:bodyPr>
          <a:lstStyle/>
          <a:p>
            <a:pPr>
              <a:lnSpc>
                <a:spcPct val="115000"/>
              </a:lnSpc>
              <a:spcAft>
                <a:spcPts val="1000"/>
              </a:spcAft>
            </a:pPr>
            <a:r>
              <a:rPr lang="en-US" sz="2800" b="1" u="heavy" dirty="0">
                <a:latin typeface="Arial Black" panose="020B0A04020102020204" pitchFamily="34" charset="0"/>
                <a:ea typeface="Calibri" panose="020F0502020204030204" pitchFamily="34" charset="0"/>
                <a:cs typeface="Times New Roman" panose="02020603050405020304" pitchFamily="18" charset="0"/>
              </a:rPr>
              <a:t>Limitations of Surveying</a:t>
            </a:r>
            <a:r>
              <a:rPr lang="en-US" sz="2800" b="1" dirty="0">
                <a:latin typeface="Arial Black" panose="020B0A04020102020204" pitchFamily="34" charset="0"/>
                <a:ea typeface="Calibri" panose="020F0502020204030204" pitchFamily="34" charset="0"/>
                <a:cs typeface="Times New Roman" panose="02020603050405020304" pitchFamily="18" charset="0"/>
              </a:rPr>
              <a:t>:</a:t>
            </a:r>
            <a:endParaRPr lang="fr-FR" sz="2800" dirty="0">
              <a:latin typeface="Arial Black" panose="020B0A0402010202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US" sz="2400" b="1" dirty="0">
                <a:latin typeface="Calibri" panose="020F0502020204030204" pitchFamily="34" charset="0"/>
                <a:ea typeface="Calibri" panose="020F0502020204030204" pitchFamily="34" charset="0"/>
                <a:cs typeface="Times New Roman" panose="02020603050405020304" pitchFamily="18" charset="0"/>
              </a:rPr>
              <a:t>Legal and Regulatory Constraints: Diverse laws and regulations across regions can complicate cross-border or interprovincial projects. </a:t>
            </a:r>
            <a:endParaRPr lang="fr-FR"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US" sz="2400" b="1" dirty="0">
                <a:latin typeface="Calibri" panose="020F0502020204030204" pitchFamily="34" charset="0"/>
                <a:ea typeface="Calibri" panose="020F0502020204030204" pitchFamily="34" charset="0"/>
                <a:cs typeface="Times New Roman" panose="02020603050405020304" pitchFamily="18" charset="0"/>
              </a:rPr>
              <a:t>Geographical and Climatic Conditions: Difficult terrains and extreme weather can hinder accurate measurements and data collection. </a:t>
            </a:r>
            <a:endParaRPr lang="fr-FR"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US" sz="2400" b="1" dirty="0">
                <a:latin typeface="Calibri" panose="020F0502020204030204" pitchFamily="34" charset="0"/>
                <a:ea typeface="Calibri" panose="020F0502020204030204" pitchFamily="34" charset="0"/>
                <a:cs typeface="Times New Roman" panose="02020603050405020304" pitchFamily="18" charset="0"/>
              </a:rPr>
              <a:t>Data Interpretation: Survey data requires careful analysis; misinterpretations can affect decisions based on this information. </a:t>
            </a:r>
            <a:endParaRPr lang="fr-FR"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Symbol" panose="05050102010706020507" pitchFamily="18" charset="2"/>
              <a:buChar char=""/>
            </a:pPr>
            <a:r>
              <a:rPr lang="en-US" sz="2400" b="1" dirty="0">
                <a:latin typeface="Calibri" panose="020F0502020204030204" pitchFamily="34" charset="0"/>
                <a:ea typeface="Calibri" panose="020F0502020204030204" pitchFamily="34" charset="0"/>
                <a:cs typeface="Times New Roman" panose="02020603050405020304" pitchFamily="18" charset="0"/>
              </a:rPr>
              <a:t>Natural Changes: Natural events like erosion or tectonic movements can alter physical markers, rendering previous measurements obsolete. </a:t>
            </a:r>
            <a:endParaRPr lang="fr-FR" sz="24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2400" b="1" dirty="0">
                <a:latin typeface="Calibri" panose="020F0502020204030204" pitchFamily="34" charset="0"/>
                <a:ea typeface="Calibri" panose="020F0502020204030204" pitchFamily="34" charset="0"/>
                <a:cs typeface="Times New Roman" panose="02020603050405020304" pitchFamily="18" charset="0"/>
              </a:rPr>
              <a:t>In summary, while surveying is crucial for effective land management, recognizing and addressing its challenges and limitations is essential for accurate and reliable outcomes.</a:t>
            </a:r>
            <a:endParaRPr lang="fr-FR"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44358215"/>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40828" y="1290706"/>
            <a:ext cx="7496855" cy="5122428"/>
          </a:xfrm>
          <a:prstGeom prst="rect">
            <a:avLst/>
          </a:prstGeom>
        </p:spPr>
        <p:txBody>
          <a:bodyPr wrap="square">
            <a:spAutoFit/>
          </a:bodyPr>
          <a:lstStyle/>
          <a:p>
            <a:pPr algn="ctr">
              <a:lnSpc>
                <a:spcPct val="115000"/>
              </a:lnSpc>
              <a:spcAft>
                <a:spcPts val="1000"/>
              </a:spcAft>
            </a:pPr>
            <a:r>
              <a:rPr lang="en-US" sz="3200" b="1" dirty="0" smtClean="0">
                <a:latin typeface="Arial Black" panose="020B0A04020102020204" pitchFamily="34" charset="0"/>
                <a:ea typeface="Calibri" panose="020F0502020204030204" pitchFamily="34" charset="0"/>
                <a:cs typeface="Times New Roman" panose="02020603050405020304" pitchFamily="18" charset="0"/>
              </a:rPr>
              <a:t>CONCLUSION</a:t>
            </a:r>
            <a:endParaRPr lang="fr-FR" sz="3200" dirty="0" smtClean="0">
              <a:latin typeface="Arial Black" panose="020B0A0402010202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2400" b="1" dirty="0">
                <a:latin typeface="Calibri" panose="020F0502020204030204" pitchFamily="34" charset="0"/>
                <a:ea typeface="Calibri" panose="020F0502020204030204" pitchFamily="34" charset="0"/>
                <a:cs typeface="Times New Roman" panose="02020603050405020304" pitchFamily="18" charset="0"/>
              </a:rPr>
              <a:t>Land surveying, vital for planning, land boundaries, and resource management, combines tools (theodolites/drones/LiDAR) for precision and environmental protection. Technological/legal challenges demand a sustainable approach. </a:t>
            </a:r>
            <a:endParaRPr lang="en-US" sz="2400" b="1" dirty="0" smtClean="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endParaRPr lang="en-US" sz="2400" b="1" dirty="0" smtClean="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2400" b="1" dirty="0" smtClean="0">
                <a:effectLst/>
                <a:latin typeface="Calibri" panose="020F0502020204030204" pitchFamily="34" charset="0"/>
                <a:ea typeface="Calibri" panose="020F0502020204030204" pitchFamily="34" charset="0"/>
                <a:cs typeface="Times New Roman" panose="02020603050405020304" pitchFamily="18" charset="0"/>
              </a:rPr>
              <a:t>Sources:</a:t>
            </a:r>
          </a:p>
          <a:p>
            <a:pPr>
              <a:lnSpc>
                <a:spcPct val="115000"/>
              </a:lnSpc>
              <a:spcAft>
                <a:spcPts val="1000"/>
              </a:spcAft>
            </a:pPr>
            <a:r>
              <a:rPr lang="en-US" sz="2400" b="1" dirty="0" smtClean="0">
                <a:latin typeface="Calibri" panose="020F0502020204030204" pitchFamily="34" charset="0"/>
                <a:ea typeface="Calibri" panose="020F0502020204030204" pitchFamily="34" charset="0"/>
                <a:cs typeface="Times New Roman" panose="02020603050405020304" pitchFamily="18" charset="0"/>
              </a:rPr>
              <a:t>Chat GPT/ Deep Seek</a:t>
            </a:r>
          </a:p>
          <a:p>
            <a:pPr>
              <a:lnSpc>
                <a:spcPct val="115000"/>
              </a:lnSpc>
              <a:spcAft>
                <a:spcPts val="1000"/>
              </a:spcAft>
            </a:pPr>
            <a:r>
              <a:rPr lang="en-US" sz="2400" b="1" dirty="0" smtClean="0">
                <a:effectLst/>
                <a:latin typeface="Calibri" panose="020F0502020204030204" pitchFamily="34" charset="0"/>
                <a:ea typeface="Calibri" panose="020F0502020204030204" pitchFamily="34" charset="0"/>
                <a:cs typeface="Times New Roman" panose="02020603050405020304" pitchFamily="18" charset="0"/>
              </a:rPr>
              <a:t>GOOGLE</a:t>
            </a:r>
          </a:p>
        </p:txBody>
      </p:sp>
    </p:spTree>
    <p:extLst>
      <p:ext uri="{BB962C8B-B14F-4D97-AF65-F5344CB8AC3E}">
        <p14:creationId xmlns:p14="http://schemas.microsoft.com/office/powerpoint/2010/main" val="3136266260"/>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18055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TM03457510[[fn=Savon]]</Template>
  <TotalTime>2921</TotalTime>
  <Words>706</Words>
  <Application>Microsoft Office PowerPoint</Application>
  <PresentationFormat>Grand écran</PresentationFormat>
  <Paragraphs>72</Paragraphs>
  <Slides>14</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14</vt:i4>
      </vt:variant>
    </vt:vector>
  </HeadingPairs>
  <TitlesOfParts>
    <vt:vector size="23" baseType="lpstr">
      <vt:lpstr>Arial</vt:lpstr>
      <vt:lpstr>Arial Black</vt:lpstr>
      <vt:lpstr>Calibri</vt:lpstr>
      <vt:lpstr>Century Gothic</vt:lpstr>
      <vt:lpstr>Garamond</vt:lpstr>
      <vt:lpstr>Symbol</vt:lpstr>
      <vt:lpstr>Times New Roman</vt:lpstr>
      <vt:lpstr>Wingdings</vt:lpstr>
      <vt:lpstr>Savon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Ngor Ba</dc:creator>
  <cp:lastModifiedBy>hp</cp:lastModifiedBy>
  <cp:revision>27</cp:revision>
  <dcterms:created xsi:type="dcterms:W3CDTF">2025-02-13T17:43:13Z</dcterms:created>
  <dcterms:modified xsi:type="dcterms:W3CDTF">2026-03-12T16:40:55Z</dcterms:modified>
</cp:coreProperties>
</file>